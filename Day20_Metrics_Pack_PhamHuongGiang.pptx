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680b729c95142f0" /><Relationship Type="http://schemas.openxmlformats.org/officeDocument/2006/relationships/extended-properties" Target="/docProps/app.xml" Id="R553660d3c5de4795" /><Relationship Type="http://schemas.openxmlformats.org/officeDocument/2006/relationships/officeDocument" Target="/ppt/presentation.xml" Id="R2f5cc1e778eb4bb7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84371ecd6104151"/>
  </p:sldMasterIdLst>
  <p:notesMasterIdLst>
    <p:notesMasterId xmlns:r="http://schemas.openxmlformats.org/officeDocument/2006/relationships" r:id="R5a0749e38b2b42fb"/>
  </p:notesMasterIdLst>
  <p:sldIdLst>
    <p:sldId xmlns:r="http://schemas.openxmlformats.org/officeDocument/2006/relationships" id="256" r:id="R978ca9989804453e"/>
    <p:sldId xmlns:r="http://schemas.openxmlformats.org/officeDocument/2006/relationships" id="257" r:id="R5e3cb4c3e5584bf0"/>
    <p:sldId xmlns:r="http://schemas.openxmlformats.org/officeDocument/2006/relationships" id="258" r:id="Ra7dd63fcd47447b1"/>
    <p:sldId xmlns:r="http://schemas.openxmlformats.org/officeDocument/2006/relationships" id="259" r:id="R9fca832de47e42a9"/>
    <p:sldId xmlns:r="http://schemas.openxmlformats.org/officeDocument/2006/relationships" id="260" r:id="R31a486a72c824433"/>
    <p:sldId xmlns:r="http://schemas.openxmlformats.org/officeDocument/2006/relationships" id="261" r:id="R3776b75fc11748c1"/>
    <p:sldId xmlns:r="http://schemas.openxmlformats.org/officeDocument/2006/relationships" id="262" r:id="Rc1a06207b5c94160"/>
    <p:sldId xmlns:r="http://schemas.openxmlformats.org/officeDocument/2006/relationships" id="263" r:id="R8210157a65304d9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4917e83828c4acc" /><Relationship Type="http://schemas.openxmlformats.org/officeDocument/2006/relationships/slideMaster" Target="/ppt/slideMasters/slideMaster1.xml" Id="Ra84371ecd6104151" /><Relationship Type="http://schemas.openxmlformats.org/officeDocument/2006/relationships/notesMaster" Target="/ppt/notesMasters/notesMaster1.xml" Id="R5a0749e38b2b42fb" /><Relationship Type="http://schemas.openxmlformats.org/officeDocument/2006/relationships/presProps" Target="/ppt/presProps.xml" Id="R699e7a49e864466d" /><Relationship Type="http://schemas.openxmlformats.org/officeDocument/2006/relationships/tableStyles" Target="/ppt/tableStyles.xml" Id="R5646fcaf63ad4e13" /><Relationship Type="http://schemas.openxmlformats.org/officeDocument/2006/relationships/slide" Target="/ppt/slides/slide1.xml" Id="R978ca9989804453e" /><Relationship Type="http://schemas.openxmlformats.org/officeDocument/2006/relationships/slide" Target="/ppt/slides/slide2.xml" Id="R5e3cb4c3e5584bf0" /><Relationship Type="http://schemas.openxmlformats.org/officeDocument/2006/relationships/slide" Target="/ppt/slides/slide3.xml" Id="Ra7dd63fcd47447b1" /><Relationship Type="http://schemas.openxmlformats.org/officeDocument/2006/relationships/slide" Target="/ppt/slides/slide4.xml" Id="R9fca832de47e42a9" /><Relationship Type="http://schemas.openxmlformats.org/officeDocument/2006/relationships/slide" Target="/ppt/slides/slide5.xml" Id="R31a486a72c824433" /><Relationship Type="http://schemas.openxmlformats.org/officeDocument/2006/relationships/slide" Target="/ppt/slides/slide6.xml" Id="R3776b75fc11748c1" /><Relationship Type="http://schemas.openxmlformats.org/officeDocument/2006/relationships/slide" Target="/ppt/slides/slide7.xml" Id="Rc1a06207b5c94160" /><Relationship Type="http://schemas.openxmlformats.org/officeDocument/2006/relationships/slide" Target="/ppt/slides/slide8.xml" Id="R8210157a65304d9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b155d165dc248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16ba2070da5497a" /><Relationship Type="http://schemas.openxmlformats.org/officeDocument/2006/relationships/notesMaster" Target="/ppt/notesMasters/notesMaster1.xml" Id="R6a05aa51747642c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389a7ff34b43e2" /><Relationship Type="http://schemas.openxmlformats.org/officeDocument/2006/relationships/notesMaster" Target="/ppt/notesMasters/notesMaster1.xml" Id="R654154dc0644478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12e6a4d838547e1" /><Relationship Type="http://schemas.openxmlformats.org/officeDocument/2006/relationships/notesMaster" Target="/ppt/notesMasters/notesMaster1.xml" Id="R7a4865a96c884c6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95777bde5f41f2" /><Relationship Type="http://schemas.openxmlformats.org/officeDocument/2006/relationships/notesMaster" Target="/ppt/notesMasters/notesMaster1.xml" Id="R495ad7a2445a45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1155f82a0e4349" /><Relationship Type="http://schemas.openxmlformats.org/officeDocument/2006/relationships/notesMaster" Target="/ppt/notesMasters/notesMaster1.xml" Id="Rbc0d48864237464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8229bb70df440d6" /><Relationship Type="http://schemas.openxmlformats.org/officeDocument/2006/relationships/notesMaster" Target="/ppt/notesMasters/notesMaster1.xml" Id="Rb160375b6bac487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931ff298b59459a" /><Relationship Type="http://schemas.openxmlformats.org/officeDocument/2006/relationships/notesMaster" Target="/ppt/notesMasters/notesMaster1.xml" Id="R566fba4b085d424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3213df42d3e4dce" /><Relationship Type="http://schemas.openxmlformats.org/officeDocument/2006/relationships/notesMaster" Target="/ppt/notesMasters/notesMaster1.xml" Id="R021ef907b66a40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71d13c5d47248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5647c95cb064a49" /><Relationship Type="http://schemas.openxmlformats.org/officeDocument/2006/relationships/slideLayout" Target="/ppt/slideLayouts/slideLayout1.xml" Id="Re3c8c1622d214aa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c8c1622d214aa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890a3810e548fb" /><Relationship Type="http://schemas.openxmlformats.org/officeDocument/2006/relationships/notesSlide" Target="/ppt/notesSlides/notesSlide1.xml" Id="R80b81b766af145d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8fa75677a24135" /><Relationship Type="http://schemas.openxmlformats.org/officeDocument/2006/relationships/notesSlide" Target="/ppt/notesSlides/notesSlide2.xml" Id="R1e31cb72d040417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252a4dca3f4f9d" /><Relationship Type="http://schemas.openxmlformats.org/officeDocument/2006/relationships/notesSlide" Target="/ppt/notesSlides/notesSlide3.xml" Id="R103616c3aa7a484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d23eb68a56a483d" /><Relationship Type="http://schemas.openxmlformats.org/officeDocument/2006/relationships/notesSlide" Target="/ppt/notesSlides/notesSlide4.xml" Id="Ref7c8b448640419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321f069694b1d" /><Relationship Type="http://schemas.openxmlformats.org/officeDocument/2006/relationships/notesSlide" Target="/ppt/notesSlides/notesSlide5.xml" Id="R7f2581002b2b41a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add340772ae48f6" /><Relationship Type="http://schemas.openxmlformats.org/officeDocument/2006/relationships/notesSlide" Target="/ppt/notesSlides/notesSlide6.xml" Id="R7e8e62e8256246c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b62d262084c53" /><Relationship Type="http://schemas.openxmlformats.org/officeDocument/2006/relationships/notesSlide" Target="/ppt/notesSlides/notesSlide7.xml" Id="R547640abd3a7427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77fbe65464065" /><Relationship Type="http://schemas.openxmlformats.org/officeDocument/2006/relationships/notesSlide" Target="/ppt/notesSlides/notesSlide8.xml" Id="R735ad4563ff44c85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304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eyebrow">
            <a:extLst xmlns:a="http://schemas.openxmlformats.org/drawingml/2006/main">
              <a:ext uri="{FF2B5EF4-FFF2-40B4-BE49-F238E27FC236}">
                <a16:creationId xmlns:a16="http://schemas.microsoft.com/office/drawing/2014/main" id="{6CF6790C-2063-44A3-823E-CA40004E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4000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DF3EF"/>
                </a:solidFill>
              </a:defRPr>
            </a:pPr>
            <a:r>
              <a:rPr sz="1200" b="1">
                <a:solidFill>
                  <a:srgbClr val="DDF3EF"/>
                </a:solidFill>
              </a:rPr>
              <a:t>TRACK 1 · DAY 20</a:t>
            </a:r>
          </a:p>
        </p:txBody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D90C745E-F727-41E4-8B96-9D6F202E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81150"/>
            <a:ext cx="7239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Metrics Pack</a:t>
            </a:r>
          </a:p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92DFEAFF-2C6E-4408-A861-E0B95141F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7810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DDF3EF"/>
                </a:solidFill>
              </a:defRPr>
            </a:pPr>
            <a:r>
              <a:rPr sz="1875" b="0">
                <a:solidFill>
                  <a:srgbClr val="DDF3EF"/>
                </a:solidFill>
              </a:rPr>
              <a:t>Đo đúng hành vi tạo giá trị trong quy trình giám sát tuân thủ vệ sinh</a:t>
            </a:r>
          </a:p>
        </p:txBody>
      </p:sp>
      <p:sp>
        <p:nvSpPr>
          <p:cNvPr id="4" name="accent">
            <a:extLst xmlns:a="http://schemas.openxmlformats.org/drawingml/2006/main">
              <a:ext uri="{FF2B5EF4-FFF2-40B4-BE49-F238E27FC236}">
                <a16:creationId xmlns:a16="http://schemas.microsoft.com/office/drawing/2014/main" id="{3956B780-9E04-48FF-A001-2B8CE041C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18097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705B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5" name="project">
            <a:extLst xmlns:a="http://schemas.openxmlformats.org/drawingml/2006/main">
              <a:ext uri="{FF2B5EF4-FFF2-40B4-BE49-F238E27FC236}">
                <a16:creationId xmlns:a16="http://schemas.microsoft.com/office/drawing/2014/main" id="{C93DE27A-D167-4817-96AB-32FA1D46B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FixIt Agent</a:t>
            </a:r>
          </a:p>
        </p:txBody>
      </p:sp>
      <p:sp>
        <p:nvSpPr>
          <p:cNvPr id="6" name="author">
            <a:extLst xmlns:a="http://schemas.openxmlformats.org/drawingml/2006/main">
              <a:ext uri="{FF2B5EF4-FFF2-40B4-BE49-F238E27FC236}">
                <a16:creationId xmlns:a16="http://schemas.microsoft.com/office/drawing/2014/main" id="{913CBE33-F132-4B49-A232-1B9FC8E2F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DF3EF"/>
                </a:solidFill>
              </a:defRPr>
            </a:pPr>
            <a:r>
              <a:rPr sz="1350" b="0">
                <a:solidFill>
                  <a:srgbClr val="DDF3EF"/>
                </a:solidFill>
              </a:rPr>
              <a:t>Phạm Hương Giang · 2A202602359</a:t>
            </a:r>
          </a:p>
        </p:txBody>
      </p:sp>
      <p:sp>
        <p:nvSpPr>
          <p:cNvPr id="7" name="date">
            <a:extLst xmlns:a="http://schemas.openxmlformats.org/drawingml/2006/main">
              <a:ext uri="{FF2B5EF4-FFF2-40B4-BE49-F238E27FC236}">
                <a16:creationId xmlns:a16="http://schemas.microsoft.com/office/drawing/2014/main" id="{03312A55-8464-4531-8E71-AF7B9B8D6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191250"/>
            <a:ext cx="1504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DDF3EF"/>
                </a:solidFill>
              </a:defRPr>
            </a:pPr>
            <a:r>
              <a:rPr sz="975" b="1">
                <a:solidFill>
                  <a:srgbClr val="DDF3EF"/>
                </a:solidFill>
              </a:rPr>
              <a:t>06.10.2026</a:t>
            </a:r>
          </a:p>
        </p:txBody>
      </p:sp>
    </p:spTree>
    <p:extLst>
      <p:ext uri="{BB962C8B-B14F-4D97-AF65-F5344CB8AC3E}">
        <p14:creationId xmlns:p14="http://schemas.microsoft.com/office/powerpoint/2010/main" val="56576348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2">
            <a:extLst xmlns:a="http://schemas.openxmlformats.org/drawingml/2006/main">
              <a:ext uri="{FF2B5EF4-FFF2-40B4-BE49-F238E27FC236}">
                <a16:creationId xmlns:a16="http://schemas.microsoft.com/office/drawing/2014/main" id="{0B871ECA-F1EF-4770-A192-F84598553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TRACK 1 · DAY 20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D1F14CE6-3B8B-416D-BE23-DC085F684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A"/>
                </a:solidFill>
              </a:defRPr>
            </a:pPr>
            <a:r>
              <a:rPr sz="2625" b="1">
                <a:solidFill>
                  <a:srgbClr val="12304A"/>
                </a:solidFill>
              </a:rPr>
              <a:t>Bài toán: từ dữ liệu vận hành đến kết luận có căn cứ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32AC8470-23DD-41F5-A75C-839514CFC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8611F29A-416A-4288-9E7D-EC26538AD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36D"/>
                </a:solidFill>
              </a:defRPr>
            </a:pPr>
            <a:r>
              <a:rPr sz="900" b="0">
                <a:solidFill>
                  <a:srgbClr val="54636D"/>
                </a:solidFill>
              </a:rPr>
              <a:t>FIXIT AGENT  ·  PHẠM HƯƠNG GIANG  ·  2A202602359</a:t>
            </a:r>
          </a:p>
        </p:txBody>
      </p:sp>
      <p:sp>
        <p:nvSpPr>
          <p:cNvPr id="5" name="page-2">
            <a:extLst xmlns:a="http://schemas.openxmlformats.org/drawingml/2006/main">
              <a:ext uri="{FF2B5EF4-FFF2-40B4-BE49-F238E27FC236}">
                <a16:creationId xmlns:a16="http://schemas.microsoft.com/office/drawing/2014/main" id="{5BF68CC5-68D7-4AF3-8F82-D65112CA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36D"/>
                </a:solidFill>
              </a:defRPr>
            </a:pPr>
            <a:r>
              <a:rPr sz="900" b="1">
                <a:solidFill>
                  <a:srgbClr val="54636D"/>
                </a:solidFill>
              </a:rPr>
              <a:t>02</a:t>
            </a:r>
          </a:p>
        </p:txBody>
      </p:sp>
      <p:sp>
        <p:nvSpPr>
          <p:cNvPr id="6" name="problem">
            <a:extLst xmlns:a="http://schemas.openxmlformats.org/drawingml/2006/main">
              <a:ext uri="{FF2B5EF4-FFF2-40B4-BE49-F238E27FC236}">
                <a16:creationId xmlns:a16="http://schemas.microsoft.com/office/drawing/2014/main" id="{8109B31A-3AED-4BD5-A559-EE3D71C5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42D"/>
                </a:solidFill>
              </a:defRPr>
            </a:pPr>
            <a:r>
              <a:rPr sz="1875" b="1">
                <a:solidFill>
                  <a:srgbClr val="17242D"/>
                </a:solidFill>
              </a:rPr>
              <a:t>BQL cần biết một ca vệ sinh có thực sự tuân thủ hợp đồng hay không — không chỉ biết hệ thống đã tạo cảnh báo.</a:t>
            </a:r>
          </a:p>
        </p:txBody>
      </p:sp>
      <p:sp>
        <p:nvSpPr>
          <p:cNvPr id="7" name="b1-dot">
            <a:extLst xmlns:a="http://schemas.openxmlformats.org/drawingml/2006/main">
              <a:ext uri="{FF2B5EF4-FFF2-40B4-BE49-F238E27FC236}">
                <a16:creationId xmlns:a16="http://schemas.microsoft.com/office/drawing/2014/main" id="{60954D18-09F0-4849-9699-54E6395FDB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670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8" name="b1">
            <a:extLst xmlns:a="http://schemas.openxmlformats.org/drawingml/2006/main">
              <a:ext uri="{FF2B5EF4-FFF2-40B4-BE49-F238E27FC236}">
                <a16:creationId xmlns:a16="http://schemas.microsoft.com/office/drawing/2014/main" id="{3CEB02A8-4A26-49FE-A494-17222DC80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67000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Đối chiếu dữ liệu thực hiện, hậu kiểm và rule hợp đồng.</a:t>
            </a:r>
          </a:p>
        </p:txBody>
      </p:sp>
      <p:sp>
        <p:nvSpPr>
          <p:cNvPr id="9" name="b2-dot">
            <a:extLst xmlns:a="http://schemas.openxmlformats.org/drawingml/2006/main">
              <a:ext uri="{FF2B5EF4-FFF2-40B4-BE49-F238E27FC236}">
                <a16:creationId xmlns:a16="http://schemas.microsoft.com/office/drawing/2014/main" id="{500D7B66-D7E5-4B4A-A842-5FCD6DBA1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575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10" name="b2">
            <a:extLst xmlns:a="http://schemas.openxmlformats.org/drawingml/2006/main">
              <a:ext uri="{FF2B5EF4-FFF2-40B4-BE49-F238E27FC236}">
                <a16:creationId xmlns:a16="http://schemas.microsoft.com/office/drawing/2014/main" id="{0388844A-E667-437A-99F1-11AE0C754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57550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Phân loại: Đạt · Vi phạm · Cần kiểm tra thêm.</a:t>
            </a:r>
          </a:p>
        </p:txBody>
      </p:sp>
      <p:sp>
        <p:nvSpPr>
          <p:cNvPr id="11" name="b3-dot">
            <a:extLst xmlns:a="http://schemas.openxmlformats.org/drawingml/2006/main">
              <a:ext uri="{FF2B5EF4-FFF2-40B4-BE49-F238E27FC236}">
                <a16:creationId xmlns:a16="http://schemas.microsoft.com/office/drawing/2014/main" id="{EAC3B26C-403B-421C-A7ED-65DC0D998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12" name="b3">
            <a:extLst xmlns:a="http://schemas.openxmlformats.org/drawingml/2006/main">
              <a:ext uri="{FF2B5EF4-FFF2-40B4-BE49-F238E27FC236}">
                <a16:creationId xmlns:a16="http://schemas.microsoft.com/office/drawing/2014/main" id="{B0475EE5-8366-486C-BDB1-B3C133BB5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848100"/>
            <a:ext cx="4686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Lưu căn cứ để truy xuất, audit và xử lý vendor.</a:t>
            </a:r>
          </a:p>
        </p:txBody>
      </p:sp>
      <p:sp>
        <p:nvSpPr>
          <p:cNvPr id="13" name="thesis">
            <a:extLst xmlns:a="http://schemas.openxmlformats.org/drawingml/2006/main">
              <a:ext uri="{FF2B5EF4-FFF2-40B4-BE49-F238E27FC236}">
                <a16:creationId xmlns:a16="http://schemas.microsoft.com/office/drawing/2014/main" id="{11814862-F772-4656-929D-8F532E594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400300"/>
            <a:ext cx="44767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DF3EF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14" name="thesis-label">
            <a:extLst xmlns:a="http://schemas.openxmlformats.org/drawingml/2006/main">
              <a:ext uri="{FF2B5EF4-FFF2-40B4-BE49-F238E27FC236}">
                <a16:creationId xmlns:a16="http://schemas.microsoft.com/office/drawing/2014/main" id="{711B64C3-4AA2-4CAD-A268-0B0CC5A6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24150"/>
            <a:ext cx="361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NGUYÊN TẮC ĐO</a:t>
            </a:r>
          </a:p>
        </p:txBody>
      </p:sp>
      <p:sp>
        <p:nvSpPr>
          <p:cNvPr id="15" name="thesis-copy">
            <a:extLst xmlns:a="http://schemas.openxmlformats.org/drawingml/2006/main">
              <a:ext uri="{FF2B5EF4-FFF2-40B4-BE49-F238E27FC236}">
                <a16:creationId xmlns:a16="http://schemas.microsoft.com/office/drawing/2014/main" id="{111BB0DF-DB37-4E89-9AA5-97BF7C738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00400"/>
            <a:ext cx="3524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2304A"/>
                </a:solidFill>
              </a:defRPr>
            </a:pPr>
            <a:r>
              <a:rPr sz="2025" b="1">
                <a:solidFill>
                  <a:srgbClr val="12304A"/>
                </a:solidFill>
              </a:rPr>
              <a:t>Đo quyết định nghiệp vụ đã hoàn tất, không đo lượt mở app, đăng nhập hay xem đề xuất AI.</a:t>
            </a:r>
          </a:p>
        </p:txBody>
      </p:sp>
    </p:spTree>
    <p:extLst>
      <p:ext uri="{BB962C8B-B14F-4D97-AF65-F5344CB8AC3E}">
        <p14:creationId xmlns:p14="http://schemas.microsoft.com/office/powerpoint/2010/main" val="207757088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3">
            <a:extLst xmlns:a="http://schemas.openxmlformats.org/drawingml/2006/main">
              <a:ext uri="{FF2B5EF4-FFF2-40B4-BE49-F238E27FC236}">
                <a16:creationId xmlns:a16="http://schemas.microsoft.com/office/drawing/2014/main" id="{D702CC05-CC17-4BED-AA81-F9E2DE36F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TRACK 1 · DAY 20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2FEDF7E-1073-417B-9626-B1B26F225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A"/>
                </a:solidFill>
              </a:defRPr>
            </a:pPr>
            <a:r>
              <a:rPr sz="2625" b="1">
                <a:solidFill>
                  <a:srgbClr val="12304A"/>
                </a:solidFill>
              </a:rPr>
              <a:t>Core Action: một quyết định nghiệp vụ đã hoàn tất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EE9E3D69-F54B-4C4C-AE06-9B76CA6E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2C93FF99-B382-42E6-BD70-19706B64B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36D"/>
                </a:solidFill>
              </a:defRPr>
            </a:pPr>
            <a:r>
              <a:rPr sz="900" b="0">
                <a:solidFill>
                  <a:srgbClr val="54636D"/>
                </a:solidFill>
              </a:rPr>
              <a:t>FIXIT AGENT  ·  PHẠM HƯƠNG GIANG  ·  2A202602359</a:t>
            </a:r>
          </a:p>
        </p:txBody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02E2594E-B51C-4677-8260-193F8395F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36D"/>
                </a:solidFill>
              </a:defRPr>
            </a:pPr>
            <a:r>
              <a:rPr sz="900" b="1">
                <a:solidFill>
                  <a:srgbClr val="54636D"/>
                </a:solidFill>
              </a:rPr>
              <a:t>03</a:t>
            </a:r>
          </a:p>
        </p:txBody>
      </p:sp>
      <p:sp>
        <p:nvSpPr>
          <p:cNvPr id="6" name="core">
            <a:extLst xmlns:a="http://schemas.openxmlformats.org/drawingml/2006/main">
              <a:ext uri="{FF2B5EF4-FFF2-40B4-BE49-F238E27FC236}">
                <a16:creationId xmlns:a16="http://schemas.microsoft.com/office/drawing/2014/main" id="{34EA33D0-9C10-48AA-922B-D42EF0B78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10820400" cy="12001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7" name="core-copy">
            <a:extLst xmlns:a="http://schemas.openxmlformats.org/drawingml/2006/main">
              <a:ext uri="{FF2B5EF4-FFF2-40B4-BE49-F238E27FC236}">
                <a16:creationId xmlns:a16="http://schemas.microsoft.com/office/drawing/2014/main" id="{9E886264-A6B2-4F2E-A6A9-0BC92A8BC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114550"/>
            <a:ext cx="101346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FFFFFF"/>
                </a:solidFill>
              </a:defRPr>
            </a:pPr>
            <a:r>
              <a:rPr sz="1950" b="1">
                <a:solidFill>
                  <a:srgbClr val="FFFFFF"/>
                </a:solidFill>
              </a:rPr>
              <a:t>BQL hoàn tất đánh giá một ca vệ sinh và ghi nhận kết luận Đạt, Vi phạm hoặc Cần kiểm tra thêm.</a:t>
            </a:r>
          </a:p>
        </p:txBody>
      </p:sp>
      <p:sp>
        <p:nvSpPr>
          <p:cNvPr id="8" name="actor-h">
            <a:extLst xmlns:a="http://schemas.openxmlformats.org/drawingml/2006/main">
              <a:ext uri="{FF2B5EF4-FFF2-40B4-BE49-F238E27FC236}">
                <a16:creationId xmlns:a16="http://schemas.microsoft.com/office/drawing/2014/main" id="{408286C8-570E-42B5-8EB9-7E0FEC6C5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ACTOR</a:t>
            </a:r>
          </a:p>
        </p:txBody>
      </p:sp>
      <p:sp>
        <p:nvSpPr>
          <p:cNvPr id="9" name="actor">
            <a:extLst xmlns:a="http://schemas.openxmlformats.org/drawingml/2006/main">
              <a:ext uri="{FF2B5EF4-FFF2-40B4-BE49-F238E27FC236}">
                <a16:creationId xmlns:a16="http://schemas.microsoft.com/office/drawing/2014/main" id="{749A3843-F5D0-4484-AEAB-C209B401E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14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2D"/>
                </a:solidFill>
              </a:defRPr>
            </a:pPr>
            <a:r>
              <a:rPr sz="1500" b="1">
                <a:solidFill>
                  <a:srgbClr val="17242D"/>
                </a:solidFill>
              </a:rPr>
              <a:t>BQL – Quản lý vận hành</a:t>
            </a:r>
          </a:p>
        </p:txBody>
      </p:sp>
      <p:sp>
        <p:nvSpPr>
          <p:cNvPr id="10" name="object-h">
            <a:extLst xmlns:a="http://schemas.openxmlformats.org/drawingml/2006/main">
              <a:ext uri="{FF2B5EF4-FFF2-40B4-BE49-F238E27FC236}">
                <a16:creationId xmlns:a16="http://schemas.microsoft.com/office/drawing/2014/main" id="{293DA8CD-1A76-4BC0-A4B5-ED54A57F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OBJECT</a:t>
            </a:r>
          </a:p>
        </p:txBody>
      </p:sp>
      <p:sp>
        <p:nvSpPr>
          <p:cNvPr id="11" name="object">
            <a:extLst xmlns:a="http://schemas.openxmlformats.org/drawingml/2006/main">
              <a:ext uri="{FF2B5EF4-FFF2-40B4-BE49-F238E27FC236}">
                <a16:creationId xmlns:a16="http://schemas.microsoft.com/office/drawing/2014/main" id="{CE13738D-1272-4951-9A9C-490F565C7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14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2D"/>
                </a:solidFill>
              </a:defRPr>
            </a:pPr>
            <a:r>
              <a:rPr sz="1500" b="1">
                <a:solidFill>
                  <a:srgbClr val="17242D"/>
                </a:solidFill>
              </a:rPr>
              <a:t>Một cleaning_session cụ thể</a:t>
            </a:r>
          </a:p>
        </p:txBody>
      </p:sp>
      <p:sp>
        <p:nvSpPr>
          <p:cNvPr id="12" name="done-h">
            <a:extLst xmlns:a="http://schemas.openxmlformats.org/drawingml/2006/main">
              <a:ext uri="{FF2B5EF4-FFF2-40B4-BE49-F238E27FC236}">
                <a16:creationId xmlns:a16="http://schemas.microsoft.com/office/drawing/2014/main" id="{CE1DDF4A-4FC2-4ECD-AB13-D752A5F86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390900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COMPLETION</a:t>
            </a:r>
          </a:p>
        </p:txBody>
      </p:sp>
      <p:sp>
        <p:nvSpPr>
          <p:cNvPr id="13" name="done">
            <a:extLst xmlns:a="http://schemas.openxmlformats.org/drawingml/2006/main">
              <a:ext uri="{FF2B5EF4-FFF2-40B4-BE49-F238E27FC236}">
                <a16:creationId xmlns:a16="http://schemas.microsoft.com/office/drawing/2014/main" id="{2E1C0B5B-0F27-4E97-9A77-5466889C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7147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2D"/>
                </a:solidFill>
              </a:defRPr>
            </a:pPr>
            <a:r>
              <a:rPr sz="1500" b="1">
                <a:solidFill>
                  <a:srgbClr val="17242D"/>
                </a:solidFill>
              </a:rPr>
              <a:t>Evaluation hợp lệ được lưu</a:t>
            </a:r>
          </a:p>
        </p:txBody>
      </p:sp>
      <p:sp>
        <p:nvSpPr>
          <p:cNvPr id="14" name="evidence-h">
            <a:extLst xmlns:a="http://schemas.openxmlformats.org/drawingml/2006/main">
              <a:ext uri="{FF2B5EF4-FFF2-40B4-BE49-F238E27FC236}">
                <a16:creationId xmlns:a16="http://schemas.microsoft.com/office/drawing/2014/main" id="{B47F5250-F4FC-4CC0-930E-C1DA8CD94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3909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EVIDENCE</a:t>
            </a:r>
          </a:p>
        </p:txBody>
      </p:sp>
      <p:sp>
        <p:nvSpPr>
          <p:cNvPr id="15" name="evidence">
            <a:extLst xmlns:a="http://schemas.openxmlformats.org/drawingml/2006/main">
              <a:ext uri="{FF2B5EF4-FFF2-40B4-BE49-F238E27FC236}">
                <a16:creationId xmlns:a16="http://schemas.microsoft.com/office/drawing/2014/main" id="{7D823448-2578-4449-AFAD-EBC3D417C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714750"/>
            <a:ext cx="180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242D"/>
                </a:solidFill>
              </a:defRPr>
            </a:pPr>
            <a:r>
              <a:rPr sz="1500" b="1">
                <a:solidFill>
                  <a:srgbClr val="17242D"/>
                </a:solidFill>
              </a:rPr>
              <a:t>Rule + ảnh + người đánh giá</a:t>
            </a:r>
          </a:p>
        </p:txBody>
      </p:sp>
      <p:sp>
        <p:nvSpPr>
          <p:cNvPr id="16" name="gate">
            <a:extLst xmlns:a="http://schemas.openxmlformats.org/drawingml/2006/main">
              <a:ext uri="{FF2B5EF4-FFF2-40B4-BE49-F238E27FC236}">
                <a16:creationId xmlns:a16="http://schemas.microsoft.com/office/drawing/2014/main" id="{4D60CA61-C489-461A-A502-C22956FC2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048250"/>
            <a:ext cx="103822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54636D"/>
                </a:solidFill>
              </a:defRPr>
            </a:pPr>
            <a:r>
              <a:rPr sz="1425" b="0">
                <a:solidFill>
                  <a:srgbClr val="54636D"/>
                </a:solidFill>
              </a:rPr>
              <a:t>Gate 1: đạt 5/5 tiêu chí — gần value, lặp lại, quan sát được, có ý nghĩa và có thể tác động.</a:t>
            </a:r>
          </a:p>
        </p:txBody>
      </p:sp>
    </p:spTree>
    <p:extLst>
      <p:ext uri="{BB962C8B-B14F-4D97-AF65-F5344CB8AC3E}">
        <p14:creationId xmlns:p14="http://schemas.microsoft.com/office/powerpoint/2010/main" val="165571774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4">
            <a:extLst xmlns:a="http://schemas.openxmlformats.org/drawingml/2006/main">
              <a:ext uri="{FF2B5EF4-FFF2-40B4-BE49-F238E27FC236}">
                <a16:creationId xmlns:a16="http://schemas.microsoft.com/office/drawing/2014/main" id="{C9B0917C-1A39-48CE-AAA0-A75DB018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TRACK 1 · DAY 20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DE842582-9494-4BAF-B548-E67B74505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A"/>
                </a:solidFill>
              </a:defRPr>
            </a:pPr>
            <a:r>
              <a:rPr sz="2625" b="1">
                <a:solidFill>
                  <a:srgbClr val="12304A"/>
                </a:solidFill>
              </a:rPr>
              <a:t>Cadence và retention phải theo nhịp vận hành thật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8679D518-DD42-4CFD-9BB8-F7AA6FB64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8E1C054D-F696-47BA-BAD0-BE5958B8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36D"/>
                </a:solidFill>
              </a:defRPr>
            </a:pPr>
            <a:r>
              <a:rPr sz="900" b="0">
                <a:solidFill>
                  <a:srgbClr val="54636D"/>
                </a:solidFill>
              </a:rPr>
              <a:t>FIXIT AGENT  ·  PHẠM HƯƠNG GIANG  ·  2A202602359</a:t>
            </a:r>
          </a:p>
        </p:txBody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1AF3DB83-637F-4B83-A175-C649F6D2E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36D"/>
                </a:solidFill>
              </a:defRPr>
            </a:pPr>
            <a:r>
              <a:rPr sz="900" b="1">
                <a:solidFill>
                  <a:srgbClr val="54636D"/>
                </a:solidFill>
              </a:rPr>
              <a:t>04</a:t>
            </a:r>
          </a:p>
        </p:txBody>
      </p:sp>
      <p:sp>
        <p:nvSpPr>
          <p:cNvPr id="6" name="cadence-big">
            <a:extLst xmlns:a="http://schemas.openxmlformats.org/drawingml/2006/main">
              <a:ext uri="{FF2B5EF4-FFF2-40B4-BE49-F238E27FC236}">
                <a16:creationId xmlns:a16="http://schemas.microsoft.com/office/drawing/2014/main" id="{31B4CE69-7861-4AA3-BA17-DFAF6493A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4095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225" b="1">
                <a:solidFill>
                  <a:srgbClr val="E9705B"/>
                </a:solidFill>
              </a:defRPr>
            </a:pPr>
            <a:r>
              <a:rPr sz="3225" b="1">
                <a:solidFill>
                  <a:srgbClr val="E9705B"/>
                </a:solidFill>
              </a:rPr>
              <a:t>HẰNG NGÀY</a:t>
            </a:r>
          </a:p>
        </p:txBody>
      </p:sp>
      <p:sp>
        <p:nvSpPr>
          <p:cNvPr id="7" name="cadence-copy">
            <a:extLst xmlns:a="http://schemas.openxmlformats.org/drawingml/2006/main">
              <a:ext uri="{FF2B5EF4-FFF2-40B4-BE49-F238E27FC236}">
                <a16:creationId xmlns:a16="http://schemas.microsoft.com/office/drawing/2014/main" id="{F4F86329-E85F-42D9-B9FC-CC0285FAF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4762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42D"/>
                </a:solidFill>
              </a:defRPr>
            </a:pPr>
            <a:r>
              <a:rPr sz="1575" b="0">
                <a:solidFill>
                  <a:srgbClr val="17242D"/>
                </a:solidFill>
              </a:rPr>
              <a:t>Rà soát theo lô cuối ngày; ca bất thường được ưu tiên xử lý sớm nhưng không làm thay đổi cadence chính.</a:t>
            </a:r>
          </a:p>
        </p:txBody>
      </p:sp>
      <p:sp>
        <p:nvSpPr>
          <p:cNvPr id="8" name="divider">
            <a:extLst xmlns:a="http://schemas.openxmlformats.org/drawingml/2006/main">
              <a:ext uri="{FF2B5EF4-FFF2-40B4-BE49-F238E27FC236}">
                <a16:creationId xmlns:a16="http://schemas.microsoft.com/office/drawing/2014/main" id="{32A63A1D-D423-4776-8A96-012635D22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8575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B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9" name="ret-title">
            <a:extLst xmlns:a="http://schemas.openxmlformats.org/drawingml/2006/main">
              <a:ext uri="{FF2B5EF4-FFF2-40B4-BE49-F238E27FC236}">
                <a16:creationId xmlns:a16="http://schemas.microsoft.com/office/drawing/2014/main" id="{801AA396-95E4-45C1-8C4B-5FC3D9C42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828800"/>
            <a:ext cx="4381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2304A"/>
                </a:solidFill>
              </a:defRPr>
            </a:pPr>
            <a:r>
              <a:rPr sz="1950" b="1">
                <a:solidFill>
                  <a:srgbClr val="12304A"/>
                </a:solidFill>
              </a:rPr>
              <a:t>Retention definition</a:t>
            </a:r>
          </a:p>
        </p:txBody>
      </p:sp>
      <p:sp>
        <p:nvSpPr>
          <p:cNvPr id="10" name="r1-dot">
            <a:extLst xmlns:a="http://schemas.openxmlformats.org/drawingml/2006/main">
              <a:ext uri="{FF2B5EF4-FFF2-40B4-BE49-F238E27FC236}">
                <a16:creationId xmlns:a16="http://schemas.microsoft.com/office/drawing/2014/main" id="{A6289875-5691-4A61-B0D5-11693CCD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57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11" name="r1">
            <a:extLst xmlns:a="http://schemas.openxmlformats.org/drawingml/2006/main">
              <a:ext uri="{FF2B5EF4-FFF2-40B4-BE49-F238E27FC236}">
                <a16:creationId xmlns:a16="http://schemas.microsoft.com/office/drawing/2014/main" id="{139F9D28-BE3D-4B91-9E8A-8FAD7E707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457450"/>
            <a:ext cx="42100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Unit: cặp BQL × tòa nhà.</a:t>
            </a:r>
          </a:p>
        </p:txBody>
      </p:sp>
      <p:sp>
        <p:nvSpPr>
          <p:cNvPr id="12" name="r2-dot">
            <a:extLst xmlns:a="http://schemas.openxmlformats.org/drawingml/2006/main">
              <a:ext uri="{FF2B5EF4-FFF2-40B4-BE49-F238E27FC236}">
                <a16:creationId xmlns:a16="http://schemas.microsoft.com/office/drawing/2014/main" id="{9479060B-4893-47BB-B2C6-9048C56F9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0289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13" name="r2">
            <a:extLst xmlns:a="http://schemas.openxmlformats.org/drawingml/2006/main">
              <a:ext uri="{FF2B5EF4-FFF2-40B4-BE49-F238E27FC236}">
                <a16:creationId xmlns:a16="http://schemas.microsoft.com/office/drawing/2014/main" id="{C1643A7B-A6D9-4AAE-AC6B-8A22435D1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2895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Return: hoàn tất evaluation cho một ca khác.</a:t>
            </a:r>
          </a:p>
        </p:txBody>
      </p:sp>
      <p:sp>
        <p:nvSpPr>
          <p:cNvPr id="14" name="r3-dot">
            <a:extLst xmlns:a="http://schemas.openxmlformats.org/drawingml/2006/main">
              <a:ext uri="{FF2B5EF4-FFF2-40B4-BE49-F238E27FC236}">
                <a16:creationId xmlns:a16="http://schemas.microsoft.com/office/drawing/2014/main" id="{70704DB5-CE0A-4034-9EB1-0187A02F9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6957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15" name="r3">
            <a:extLst xmlns:a="http://schemas.openxmlformats.org/drawingml/2006/main">
              <a:ext uri="{FF2B5EF4-FFF2-40B4-BE49-F238E27FC236}">
                <a16:creationId xmlns:a16="http://schemas.microsoft.com/office/drawing/2014/main" id="{140F6953-AF95-48FE-9037-D0D273C5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695700"/>
            <a:ext cx="42100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Window: ngày vận hành có ít nhất một ca ready.</a:t>
            </a:r>
          </a:p>
        </p:txBody>
      </p:sp>
      <p:sp>
        <p:nvSpPr>
          <p:cNvPr id="16" name="r4-dot">
            <a:extLst xmlns:a="http://schemas.openxmlformats.org/drawingml/2006/main">
              <a:ext uri="{FF2B5EF4-FFF2-40B4-BE49-F238E27FC236}">
                <a16:creationId xmlns:a16="http://schemas.microsoft.com/office/drawing/2014/main" id="{A7FC8C93-AA7E-4CF3-A0E2-D91734054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362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9705B"/>
                </a:solidFill>
              </a:defRPr>
            </a:pPr>
            <a:r>
              <a:rPr sz="1725" b="1">
                <a:solidFill>
                  <a:srgbClr val="E9705B"/>
                </a:solidFill>
              </a:rPr>
              <a:t>•</a:t>
            </a:r>
          </a:p>
        </p:txBody>
      </p:sp>
      <p:sp>
        <p:nvSpPr>
          <p:cNvPr id="17" name="r4">
            <a:extLst xmlns:a="http://schemas.openxmlformats.org/drawingml/2006/main">
              <a:ext uri="{FF2B5EF4-FFF2-40B4-BE49-F238E27FC236}">
                <a16:creationId xmlns:a16="http://schemas.microsoft.com/office/drawing/2014/main" id="{537A3FE6-262A-472D-963C-75AA53552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21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Đọc cùng Daily evaluation coverage.</a:t>
            </a:r>
          </a:p>
        </p:txBody>
      </p:sp>
      <p:sp>
        <p:nvSpPr>
          <p:cNvPr id="18" name="note">
            <a:extLst xmlns:a="http://schemas.openxmlformats.org/drawingml/2006/main">
              <a:ext uri="{FF2B5EF4-FFF2-40B4-BE49-F238E27FC236}">
                <a16:creationId xmlns:a16="http://schemas.microsoft.com/office/drawing/2014/main" id="{76059D1E-427B-467D-BDA9-93ABF4DA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54636D"/>
                </a:solidFill>
              </a:defRPr>
            </a:pPr>
            <a:r>
              <a:rPr sz="1350" b="1">
                <a:solidFill>
                  <a:srgbClr val="54636D"/>
                </a:solidFill>
              </a:rPr>
              <a:t>Không đưa ngày không có cơ hội sử dụng vào mẫu số retention.</a:t>
            </a:r>
          </a:p>
        </p:txBody>
      </p:sp>
    </p:spTree>
    <p:extLst>
      <p:ext uri="{BB962C8B-B14F-4D97-AF65-F5344CB8AC3E}">
        <p14:creationId xmlns:p14="http://schemas.microsoft.com/office/powerpoint/2010/main" val="166766411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5">
            <a:extLst xmlns:a="http://schemas.openxmlformats.org/drawingml/2006/main">
              <a:ext uri="{FF2B5EF4-FFF2-40B4-BE49-F238E27FC236}">
                <a16:creationId xmlns:a16="http://schemas.microsoft.com/office/drawing/2014/main" id="{F19E06BE-9AE2-4EF0-84DD-F619E9EC9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TRACK 1 · DAY 20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AD4F8686-EDF9-4861-AF68-2FE920AA2D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A"/>
                </a:solidFill>
              </a:defRPr>
            </a:pPr>
            <a:r>
              <a:rPr sz="2625" b="1">
                <a:solidFill>
                  <a:srgbClr val="12304A"/>
                </a:solidFill>
              </a:rPr>
              <a:t>Metric system: một thước đo giá trị, nhiều lớp bảo vệ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043E9249-9FA1-4AFC-89FF-2140AB766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4FDB9B76-1C71-45C0-9446-A807E0555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36D"/>
                </a:solidFill>
              </a:defRPr>
            </a:pPr>
            <a:r>
              <a:rPr sz="900" b="0">
                <a:solidFill>
                  <a:srgbClr val="54636D"/>
                </a:solidFill>
              </a:rPr>
              <a:t>FIXIT AGENT  ·  PHẠM HƯƠNG GIANG  ·  2A202602359</a:t>
            </a:r>
          </a:p>
        </p:txBody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498D8D69-CFBB-4617-84F4-6235AE89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36D"/>
                </a:solidFill>
              </a:defRPr>
            </a:pPr>
            <a:r>
              <a:rPr sz="900" b="1">
                <a:solidFill>
                  <a:srgbClr val="54636D"/>
                </a:solidFill>
              </a:rPr>
              <a:t>05</a:t>
            </a:r>
          </a:p>
        </p:txBody>
      </p:sp>
      <p:sp>
        <p:nvSpPr>
          <p:cNvPr id="6" name="nsm-label">
            <a:extLst xmlns:a="http://schemas.openxmlformats.org/drawingml/2006/main">
              <a:ext uri="{FF2B5EF4-FFF2-40B4-BE49-F238E27FC236}">
                <a16:creationId xmlns:a16="http://schemas.microsoft.com/office/drawing/2014/main" id="{FBD18E21-511A-4BCB-9DEB-64EBD8DF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NORTH STAR METRIC</a:t>
            </a:r>
          </a:p>
        </p:txBody>
      </p:sp>
      <p:sp>
        <p:nvSpPr>
          <p:cNvPr id="7" name="nsm">
            <a:extLst xmlns:a="http://schemas.openxmlformats.org/drawingml/2006/main">
              <a:ext uri="{FF2B5EF4-FFF2-40B4-BE49-F238E27FC236}">
                <a16:creationId xmlns:a16="http://schemas.microsoft.com/office/drawing/2014/main" id="{99BFB3D2-13B2-455C-B0AF-B6B1D1035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6953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04A"/>
                </a:solidFill>
              </a:defRPr>
            </a:pPr>
            <a:r>
              <a:rPr sz="2100" b="1">
                <a:solidFill>
                  <a:srgbClr val="12304A"/>
                </a:solidFill>
              </a:rPr>
              <a:t>Số ca vệ sinh được BQL hoàn tất đánh giá có căn cứ mỗi ngày, theo từng tòa nhà.</a:t>
            </a:r>
          </a:p>
        </p:txBody>
      </p:sp>
      <p:sp>
        <p:nvSpPr>
          <p:cNvPr id="8" name="metric-rule">
            <a:extLst xmlns:a="http://schemas.openxmlformats.org/drawingml/2006/main">
              <a:ext uri="{FF2B5EF4-FFF2-40B4-BE49-F238E27FC236}">
                <a16:creationId xmlns:a16="http://schemas.microsoft.com/office/drawing/2014/main" id="{2D13F648-B7C8-4051-852A-372BA8D3F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670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B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9" name="lead-h">
            <a:extLst xmlns:a="http://schemas.openxmlformats.org/drawingml/2006/main">
              <a:ext uri="{FF2B5EF4-FFF2-40B4-BE49-F238E27FC236}">
                <a16:creationId xmlns:a16="http://schemas.microsoft.com/office/drawing/2014/main" id="{23CEEEA9-09B4-49B5-B4F0-1BC45C84F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71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LEADING INDICATORS</a:t>
            </a:r>
          </a:p>
        </p:txBody>
      </p:sp>
      <p:sp>
        <p:nvSpPr>
          <p:cNvPr id="10" name="l1-dot">
            <a:extLst xmlns:a="http://schemas.openxmlformats.org/drawingml/2006/main">
              <a:ext uri="{FF2B5EF4-FFF2-40B4-BE49-F238E27FC236}">
                <a16:creationId xmlns:a16="http://schemas.microsoft.com/office/drawing/2014/main" id="{DD8731E3-D85B-4DD6-B8F3-1D27162F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528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11" name="l1">
            <a:extLst xmlns:a="http://schemas.openxmlformats.org/drawingml/2006/main">
              <a:ext uri="{FF2B5EF4-FFF2-40B4-BE49-F238E27FC236}">
                <a16:creationId xmlns:a16="http://schemas.microsoft.com/office/drawing/2014/main" id="{8FA93179-9427-43CC-93CA-1BCDED64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528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Ready-for-review rate</a:t>
            </a:r>
          </a:p>
        </p:txBody>
      </p:sp>
      <p:sp>
        <p:nvSpPr>
          <p:cNvPr id="12" name="l2-dot">
            <a:extLst xmlns:a="http://schemas.openxmlformats.org/drawingml/2006/main">
              <a:ext uri="{FF2B5EF4-FFF2-40B4-BE49-F238E27FC236}">
                <a16:creationId xmlns:a16="http://schemas.microsoft.com/office/drawing/2014/main" id="{4EB4D63C-27DF-408D-9301-2B0AC9BA9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13" name="l2">
            <a:extLst xmlns:a="http://schemas.openxmlformats.org/drawingml/2006/main">
              <a:ext uri="{FF2B5EF4-FFF2-40B4-BE49-F238E27FC236}">
                <a16:creationId xmlns:a16="http://schemas.microsoft.com/office/drawing/2014/main" id="{51449D88-E98E-41BA-8962-1FAEE6E99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22910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Evidence–rule match rate</a:t>
            </a:r>
          </a:p>
        </p:txBody>
      </p:sp>
      <p:sp>
        <p:nvSpPr>
          <p:cNvPr id="14" name="l3-dot">
            <a:extLst xmlns:a="http://schemas.openxmlformats.org/drawingml/2006/main">
              <a:ext uri="{FF2B5EF4-FFF2-40B4-BE49-F238E27FC236}">
                <a16:creationId xmlns:a16="http://schemas.microsoft.com/office/drawing/2014/main" id="{AC2FF658-33C5-407E-B9A3-E13D9750B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15" name="l3">
            <a:extLst xmlns:a="http://schemas.openxmlformats.org/drawingml/2006/main">
              <a:ext uri="{FF2B5EF4-FFF2-40B4-BE49-F238E27FC236}">
                <a16:creationId xmlns:a16="http://schemas.microsoft.com/office/drawing/2014/main" id="{0135F289-0680-4654-ADD6-FE104911B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705350"/>
            <a:ext cx="2971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Pending review age</a:t>
            </a:r>
          </a:p>
        </p:txBody>
      </p:sp>
      <p:sp>
        <p:nvSpPr>
          <p:cNvPr id="16" name="counter-h">
            <a:extLst xmlns:a="http://schemas.openxmlformats.org/drawingml/2006/main">
              <a:ext uri="{FF2B5EF4-FFF2-40B4-BE49-F238E27FC236}">
                <a16:creationId xmlns:a16="http://schemas.microsoft.com/office/drawing/2014/main" id="{01D3C3F0-F01B-4A6D-8C03-F2726BDDD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718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E9705B"/>
                </a:solidFill>
              </a:defRPr>
            </a:pPr>
            <a:r>
              <a:rPr sz="1125" b="1">
                <a:solidFill>
                  <a:srgbClr val="E9705B"/>
                </a:solidFill>
              </a:rPr>
              <a:t>COUNTER-METRICS</a:t>
            </a:r>
          </a:p>
        </p:txBody>
      </p:sp>
      <p:sp>
        <p:nvSpPr>
          <p:cNvPr id="17" name="c1-dot">
            <a:extLst xmlns:a="http://schemas.openxmlformats.org/drawingml/2006/main">
              <a:ext uri="{FF2B5EF4-FFF2-40B4-BE49-F238E27FC236}">
                <a16:creationId xmlns:a16="http://schemas.microsoft.com/office/drawing/2014/main" id="{14D6B3EC-EA33-44BE-8673-16F33BE1B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7528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9705B"/>
                </a:solidFill>
              </a:defRPr>
            </a:pPr>
            <a:r>
              <a:rPr sz="1725" b="1">
                <a:solidFill>
                  <a:srgbClr val="E9705B"/>
                </a:solidFill>
              </a:rPr>
              <a:t>•</a:t>
            </a:r>
          </a:p>
        </p:txBody>
      </p:sp>
      <p:sp>
        <p:nvSpPr>
          <p:cNvPr id="18" name="c1">
            <a:extLst xmlns:a="http://schemas.openxmlformats.org/drawingml/2006/main">
              <a:ext uri="{FF2B5EF4-FFF2-40B4-BE49-F238E27FC236}">
                <a16:creationId xmlns:a16="http://schemas.microsoft.com/office/drawing/2014/main" id="{37E691D1-8FB2-4505-A634-7B02B41E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7528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Evaluation correction/reopen rate</a:t>
            </a:r>
          </a:p>
        </p:txBody>
      </p:sp>
      <p:sp>
        <p:nvSpPr>
          <p:cNvPr id="19" name="c2-dot">
            <a:extLst xmlns:a="http://schemas.openxmlformats.org/drawingml/2006/main">
              <a:ext uri="{FF2B5EF4-FFF2-40B4-BE49-F238E27FC236}">
                <a16:creationId xmlns:a16="http://schemas.microsoft.com/office/drawing/2014/main" id="{0981764C-411C-4C1B-ACDF-62A28E7A2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2910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9705B"/>
                </a:solidFill>
              </a:defRPr>
            </a:pPr>
            <a:r>
              <a:rPr sz="1725" b="1">
                <a:solidFill>
                  <a:srgbClr val="E9705B"/>
                </a:solidFill>
              </a:rPr>
              <a:t>•</a:t>
            </a:r>
          </a:p>
        </p:txBody>
      </p:sp>
      <p:sp>
        <p:nvSpPr>
          <p:cNvPr id="20" name="c2">
            <a:extLst xmlns:a="http://schemas.openxmlformats.org/drawingml/2006/main">
              <a:ext uri="{FF2B5EF4-FFF2-40B4-BE49-F238E27FC236}">
                <a16:creationId xmlns:a16="http://schemas.microsoft.com/office/drawing/2014/main" id="{E369BBA9-0795-4E14-AEDF-DD4F144B65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22910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Unsupported evaluation rate</a:t>
            </a:r>
          </a:p>
        </p:txBody>
      </p:sp>
      <p:sp>
        <p:nvSpPr>
          <p:cNvPr id="21" name="c3-dot">
            <a:extLst xmlns:a="http://schemas.openxmlformats.org/drawingml/2006/main">
              <a:ext uri="{FF2B5EF4-FFF2-40B4-BE49-F238E27FC236}">
                <a16:creationId xmlns:a16="http://schemas.microsoft.com/office/drawing/2014/main" id="{38FE2174-1CB3-481C-BE44-46896653D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7053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E9705B"/>
                </a:solidFill>
              </a:defRPr>
            </a:pPr>
            <a:r>
              <a:rPr sz="1725" b="1">
                <a:solidFill>
                  <a:srgbClr val="E9705B"/>
                </a:solidFill>
              </a:rPr>
              <a:t>•</a:t>
            </a:r>
          </a:p>
        </p:txBody>
      </p:sp>
      <p:sp>
        <p:nvSpPr>
          <p:cNvPr id="22" name="c3">
            <a:extLst xmlns:a="http://schemas.openxmlformats.org/drawingml/2006/main">
              <a:ext uri="{FF2B5EF4-FFF2-40B4-BE49-F238E27FC236}">
                <a16:creationId xmlns:a16="http://schemas.microsoft.com/office/drawing/2014/main" id="{5A09A9D1-C0E3-467C-8139-4F1C1BE66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4705350"/>
            <a:ext cx="44958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Median BQL review time</a:t>
            </a:r>
          </a:p>
        </p:txBody>
      </p:sp>
      <p:sp>
        <p:nvSpPr>
          <p:cNvPr id="23" name="read">
            <a:extLst xmlns:a="http://schemas.openxmlformats.org/drawingml/2006/main">
              <a:ext uri="{FF2B5EF4-FFF2-40B4-BE49-F238E27FC236}">
                <a16:creationId xmlns:a16="http://schemas.microsoft.com/office/drawing/2014/main" id="{92ADFF0C-A875-42AA-8B30-91378C444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54636D"/>
                </a:solidFill>
              </a:defRPr>
            </a:pPr>
            <a:r>
              <a:rPr sz="1350" b="1">
                <a:solidFill>
                  <a:srgbClr val="54636D"/>
                </a:solidFill>
              </a:rPr>
              <a:t>NSM luôn được đọc cùng Daily evaluation coverage để không thưởng cho việc tạo thêm ca đầu vào.</a:t>
            </a:r>
          </a:p>
        </p:txBody>
      </p:sp>
    </p:spTree>
    <p:extLst>
      <p:ext uri="{BB962C8B-B14F-4D97-AF65-F5344CB8AC3E}">
        <p14:creationId xmlns:p14="http://schemas.microsoft.com/office/powerpoint/2010/main" val="11298791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6">
            <a:extLst xmlns:a="http://schemas.openxmlformats.org/drawingml/2006/main">
              <a:ext uri="{FF2B5EF4-FFF2-40B4-BE49-F238E27FC236}">
                <a16:creationId xmlns:a16="http://schemas.microsoft.com/office/drawing/2014/main" id="{BF41BF26-5435-46DC-BA91-96D411BEF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TRACK 1 · DAY 20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18582776-6EEA-4645-9228-2D9D745B2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A"/>
                </a:solidFill>
              </a:defRPr>
            </a:pPr>
            <a:r>
              <a:rPr sz="2625" b="1">
                <a:solidFill>
                  <a:srgbClr val="12304A"/>
                </a:solidFill>
              </a:rPr>
              <a:t>Product Loop: lý do quay lại nằm trong workflow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6FD0B916-856A-4AC4-8864-3C5114204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C92B4EDA-FB05-4889-81B8-BEC74679A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36D"/>
                </a:solidFill>
              </a:defRPr>
            </a:pPr>
            <a:r>
              <a:rPr sz="900" b="0">
                <a:solidFill>
                  <a:srgbClr val="54636D"/>
                </a:solidFill>
              </a:rPr>
              <a:t>FIXIT AGENT  ·  PHẠM HƯƠNG GIANG  ·  2A202602359</a:t>
            </a:r>
          </a:p>
        </p:txBody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FE062B06-BD81-4780-AE10-B85D2A78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36D"/>
                </a:solidFill>
              </a:defRPr>
            </a:pPr>
            <a:r>
              <a:rPr sz="900" b="1">
                <a:solidFill>
                  <a:srgbClr val="54636D"/>
                </a:solidFill>
              </a:rPr>
              <a:t>06</a:t>
            </a:r>
          </a:p>
        </p:txBody>
      </p:sp>
      <p:sp>
        <p:nvSpPr>
          <p:cNvPr id="6" name="n0">
            <a:extLst xmlns:a="http://schemas.openxmlformats.org/drawingml/2006/main">
              <a:ext uri="{FF2B5EF4-FFF2-40B4-BE49-F238E27FC236}">
                <a16:creationId xmlns:a16="http://schemas.microsoft.com/office/drawing/2014/main" id="{EF957CAC-017F-4FDE-86C2-2E664ED08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705B"/>
                </a:solidFill>
              </a:defRPr>
            </a:pPr>
            <a:r>
              <a:rPr sz="1500" b="1">
                <a:solidFill>
                  <a:srgbClr val="E9705B"/>
                </a:solidFill>
              </a:rPr>
              <a:t>01</a:t>
            </a:r>
          </a:p>
        </p:txBody>
      </p:sp>
      <p:sp>
        <p:nvSpPr>
          <p:cNvPr id="7" name="h0">
            <a:extLst xmlns:a="http://schemas.openxmlformats.org/drawingml/2006/main">
              <a:ext uri="{FF2B5EF4-FFF2-40B4-BE49-F238E27FC236}">
                <a16:creationId xmlns:a16="http://schemas.microsoft.com/office/drawing/2014/main" id="{36534B48-7489-4F00-8BB2-4DC059551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809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04A"/>
                </a:solidFill>
              </a:defRPr>
            </a:pPr>
            <a:r>
              <a:rPr sz="1200" b="1">
                <a:solidFill>
                  <a:srgbClr val="12304A"/>
                </a:solidFill>
              </a:rPr>
              <a:t>CA MỚI READY</a:t>
            </a:r>
          </a:p>
        </p:txBody>
      </p:sp>
      <p:sp>
        <p:nvSpPr>
          <p:cNvPr id="8" name="p0">
            <a:extLst xmlns:a="http://schemas.openxmlformats.org/drawingml/2006/main">
              <a:ext uri="{FF2B5EF4-FFF2-40B4-BE49-F238E27FC236}">
                <a16:creationId xmlns:a16="http://schemas.microsoft.com/office/drawing/2014/main" id="{198B882E-D7FC-492F-AAAA-0923202F12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8097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Lịch hợp đồng hoặc ca bất thường</a:t>
            </a:r>
          </a:p>
        </p:txBody>
      </p:sp>
      <p:sp>
        <p:nvSpPr>
          <p:cNvPr id="9" name="ln0">
            <a:extLst xmlns:a="http://schemas.openxmlformats.org/drawingml/2006/main">
              <a:ext uri="{FF2B5EF4-FFF2-40B4-BE49-F238E27FC236}">
                <a16:creationId xmlns:a16="http://schemas.microsoft.com/office/drawing/2014/main" id="{23A569A1-97F3-4B89-BEF4-06380633A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1526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B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10" name="n1">
            <a:extLst xmlns:a="http://schemas.openxmlformats.org/drawingml/2006/main">
              <a:ext uri="{FF2B5EF4-FFF2-40B4-BE49-F238E27FC236}">
                <a16:creationId xmlns:a16="http://schemas.microsoft.com/office/drawing/2014/main" id="{54110CB0-24E2-483B-A364-D0975C39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705B"/>
                </a:solidFill>
              </a:defRPr>
            </a:pPr>
            <a:r>
              <a:rPr sz="1500" b="1">
                <a:solidFill>
                  <a:srgbClr val="E9705B"/>
                </a:solidFill>
              </a:rPr>
              <a:t>02</a:t>
            </a:r>
          </a:p>
        </p:txBody>
      </p:sp>
      <p:sp>
        <p:nvSpPr>
          <p:cNvPr id="11" name="h1">
            <a:extLst xmlns:a="http://schemas.openxmlformats.org/drawingml/2006/main">
              <a:ext uri="{FF2B5EF4-FFF2-40B4-BE49-F238E27FC236}">
                <a16:creationId xmlns:a16="http://schemas.microsoft.com/office/drawing/2014/main" id="{CA04839D-177F-4427-8A84-DF31F8DC0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571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04A"/>
                </a:solidFill>
              </a:defRPr>
            </a:pPr>
            <a:r>
              <a:rPr sz="1200" b="1">
                <a:solidFill>
                  <a:srgbClr val="12304A"/>
                </a:solidFill>
              </a:rPr>
              <a:t>BQL ĐÁNH GIÁ</a:t>
            </a:r>
          </a:p>
        </p:txBody>
      </p:sp>
      <p:sp>
        <p:nvSpPr>
          <p:cNvPr id="12" name="p1">
            <a:extLst xmlns:a="http://schemas.openxmlformats.org/drawingml/2006/main">
              <a:ext uri="{FF2B5EF4-FFF2-40B4-BE49-F238E27FC236}">
                <a16:creationId xmlns:a16="http://schemas.microsoft.com/office/drawing/2014/main" id="{DEA1CA91-87D4-4AB3-B690-AC4ED812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5717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Kết luận có đủ rule và bằng chứng</a:t>
            </a:r>
          </a:p>
        </p:txBody>
      </p:sp>
      <p:sp>
        <p:nvSpPr>
          <p:cNvPr id="13" name="ln1">
            <a:extLst xmlns:a="http://schemas.openxmlformats.org/drawingml/2006/main">
              <a:ext uri="{FF2B5EF4-FFF2-40B4-BE49-F238E27FC236}">
                <a16:creationId xmlns:a16="http://schemas.microsoft.com/office/drawing/2014/main" id="{ED0C6823-F168-40CA-8FA9-D052B29A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9146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B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14" name="n2">
            <a:extLst xmlns:a="http://schemas.openxmlformats.org/drawingml/2006/main">
              <a:ext uri="{FF2B5EF4-FFF2-40B4-BE49-F238E27FC236}">
                <a16:creationId xmlns:a16="http://schemas.microsoft.com/office/drawing/2014/main" id="{8B2D407D-2690-422D-B323-D49D14AA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33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705B"/>
                </a:solidFill>
              </a:defRPr>
            </a:pPr>
            <a:r>
              <a:rPr sz="1500" b="1">
                <a:solidFill>
                  <a:srgbClr val="E9705B"/>
                </a:solidFill>
              </a:rPr>
              <a:t>03</a:t>
            </a:r>
          </a:p>
        </p:txBody>
      </p:sp>
      <p:sp>
        <p:nvSpPr>
          <p:cNvPr id="15" name="h2">
            <a:extLst xmlns:a="http://schemas.openxmlformats.org/drawingml/2006/main">
              <a:ext uri="{FF2B5EF4-FFF2-40B4-BE49-F238E27FC236}">
                <a16:creationId xmlns:a16="http://schemas.microsoft.com/office/drawing/2014/main" id="{6357C53F-360D-4391-923D-0EFF2E389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333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04A"/>
                </a:solidFill>
              </a:defRPr>
            </a:pPr>
            <a:r>
              <a:rPr sz="1200" b="1">
                <a:solidFill>
                  <a:srgbClr val="12304A"/>
                </a:solidFill>
              </a:rPr>
              <a:t>GIÁ TRỊ TỨC THỜI</a:t>
            </a:r>
          </a:p>
        </p:txBody>
      </p:sp>
      <p:sp>
        <p:nvSpPr>
          <p:cNvPr id="16" name="p2">
            <a:extLst xmlns:a="http://schemas.openxmlformats.org/drawingml/2006/main">
              <a:ext uri="{FF2B5EF4-FFF2-40B4-BE49-F238E27FC236}">
                <a16:creationId xmlns:a16="http://schemas.microsoft.com/office/drawing/2014/main" id="{397583D7-787D-4A68-9AD6-EA7DF2A2E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3337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Biết ca nào đạt, vi phạm, cần kiểm tra</a:t>
            </a:r>
          </a:p>
        </p:txBody>
      </p:sp>
      <p:sp>
        <p:nvSpPr>
          <p:cNvPr id="17" name="ln2">
            <a:extLst xmlns:a="http://schemas.openxmlformats.org/drawingml/2006/main">
              <a:ext uri="{FF2B5EF4-FFF2-40B4-BE49-F238E27FC236}">
                <a16:creationId xmlns:a16="http://schemas.microsoft.com/office/drawing/2014/main" id="{19A4B7EB-E6F1-4F06-B907-397750AC5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6766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B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18" name="n3">
            <a:extLst xmlns:a="http://schemas.openxmlformats.org/drawingml/2006/main">
              <a:ext uri="{FF2B5EF4-FFF2-40B4-BE49-F238E27FC236}">
                <a16:creationId xmlns:a16="http://schemas.microsoft.com/office/drawing/2014/main" id="{E3A5DE44-E811-45A2-B90E-66FC0CE86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705B"/>
                </a:solidFill>
              </a:defRPr>
            </a:pPr>
            <a:r>
              <a:rPr sz="1500" b="1">
                <a:solidFill>
                  <a:srgbClr val="E9705B"/>
                </a:solidFill>
              </a:rPr>
              <a:t>04</a:t>
            </a:r>
          </a:p>
        </p:txBody>
      </p:sp>
      <p:sp>
        <p:nvSpPr>
          <p:cNvPr id="19" name="h3">
            <a:extLst xmlns:a="http://schemas.openxmlformats.org/drawingml/2006/main">
              <a:ext uri="{FF2B5EF4-FFF2-40B4-BE49-F238E27FC236}">
                <a16:creationId xmlns:a16="http://schemas.microsoft.com/office/drawing/2014/main" id="{43047EDD-81EA-4D9F-910E-15F11FC8E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95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04A"/>
                </a:solidFill>
              </a:defRPr>
            </a:pPr>
            <a:r>
              <a:rPr sz="1200" b="1">
                <a:solidFill>
                  <a:srgbClr val="12304A"/>
                </a:solidFill>
              </a:rPr>
              <a:t>LƯU TRẠNG THÁI</a:t>
            </a:r>
          </a:p>
        </p:txBody>
      </p:sp>
      <p:sp>
        <p:nvSpPr>
          <p:cNvPr id="20" name="p3">
            <a:extLst xmlns:a="http://schemas.openxmlformats.org/drawingml/2006/main">
              <a:ext uri="{FF2B5EF4-FFF2-40B4-BE49-F238E27FC236}">
                <a16:creationId xmlns:a16="http://schemas.microsoft.com/office/drawing/2014/main" id="{4541C86D-3579-416D-9CF1-D4EE76953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Hồ sơ tuân thủ phục vụ audit</a:t>
            </a:r>
          </a:p>
        </p:txBody>
      </p:sp>
      <p:sp>
        <p:nvSpPr>
          <p:cNvPr id="21" name="ln3">
            <a:extLst xmlns:a="http://schemas.openxmlformats.org/drawingml/2006/main">
              <a:ext uri="{FF2B5EF4-FFF2-40B4-BE49-F238E27FC236}">
                <a16:creationId xmlns:a16="http://schemas.microsoft.com/office/drawing/2014/main" id="{E0B9AC6C-3A5F-404E-A964-AA7ADC2B0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38650"/>
            <a:ext cx="19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B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22" name="n4">
            <a:extLst xmlns:a="http://schemas.openxmlformats.org/drawingml/2006/main">
              <a:ext uri="{FF2B5EF4-FFF2-40B4-BE49-F238E27FC236}">
                <a16:creationId xmlns:a16="http://schemas.microsoft.com/office/drawing/2014/main" id="{9D37A10E-D04B-4D35-A97A-9F8D0A986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533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E9705B"/>
                </a:solidFill>
              </a:defRPr>
            </a:pPr>
            <a:r>
              <a:rPr sz="1500" b="1">
                <a:solidFill>
                  <a:srgbClr val="E9705B"/>
                </a:solidFill>
              </a:rPr>
              <a:t>05</a:t>
            </a:r>
          </a:p>
        </p:txBody>
      </p:sp>
      <p:sp>
        <p:nvSpPr>
          <p:cNvPr id="23" name="h4">
            <a:extLst xmlns:a="http://schemas.openxmlformats.org/drawingml/2006/main">
              <a:ext uri="{FF2B5EF4-FFF2-40B4-BE49-F238E27FC236}">
                <a16:creationId xmlns:a16="http://schemas.microsoft.com/office/drawing/2014/main" id="{DAF4C434-0491-4869-92DB-151D6FAFA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857750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2304A"/>
                </a:solidFill>
              </a:defRPr>
            </a:pPr>
            <a:r>
              <a:rPr sz="1200" b="1">
                <a:solidFill>
                  <a:srgbClr val="12304A"/>
                </a:solidFill>
              </a:rPr>
              <a:t>CHU KỲ TIẾP THEO</a:t>
            </a:r>
          </a:p>
        </p:txBody>
      </p:sp>
      <p:sp>
        <p:nvSpPr>
          <p:cNvPr id="24" name="p4">
            <a:extLst xmlns:a="http://schemas.openxmlformats.org/drawingml/2006/main">
              <a:ext uri="{FF2B5EF4-FFF2-40B4-BE49-F238E27FC236}">
                <a16:creationId xmlns:a16="http://schemas.microsoft.com/office/drawing/2014/main" id="{16A435A3-B52B-4545-A740-09BBE8EE4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857750"/>
            <a:ext cx="581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42D"/>
                </a:solidFill>
              </a:defRPr>
            </a:pPr>
            <a:r>
              <a:rPr sz="1275" b="0">
                <a:solidFill>
                  <a:srgbClr val="17242D"/>
                </a:solidFill>
              </a:rPr>
              <a:t>Ca mới và rủi ro mới tạo reason to return</a:t>
            </a:r>
          </a:p>
        </p:txBody>
      </p:sp>
      <p:sp>
        <p:nvSpPr>
          <p:cNvPr id="25" name="hyp">
            <a:extLst xmlns:a="http://schemas.openxmlformats.org/drawingml/2006/main">
              <a:ext uri="{FF2B5EF4-FFF2-40B4-BE49-F238E27FC236}">
                <a16:creationId xmlns:a16="http://schemas.microsoft.com/office/drawing/2014/main" id="{CC3A5900-0BF2-4872-A8DE-E5C4C0273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53100"/>
            <a:ext cx="1028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D92"/>
                </a:solidFill>
              </a:defRPr>
            </a:pPr>
            <a:r>
              <a:rPr sz="1200" b="1">
                <a:solidFill>
                  <a:srgbClr val="147D92"/>
                </a:solidFill>
              </a:rPr>
              <a:t>Hypothesis: Daily evaluation coverage tăng so với baseline của từng tòa nhà, nhưng correction/reopen rate không được xấu đi.</a:t>
            </a:r>
          </a:p>
        </p:txBody>
      </p:sp>
    </p:spTree>
    <p:extLst>
      <p:ext uri="{BB962C8B-B14F-4D97-AF65-F5344CB8AC3E}">
        <p14:creationId xmlns:p14="http://schemas.microsoft.com/office/powerpoint/2010/main" val="13444724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7">
            <a:extLst xmlns:a="http://schemas.openxmlformats.org/drawingml/2006/main">
              <a:ext uri="{FF2B5EF4-FFF2-40B4-BE49-F238E27FC236}">
                <a16:creationId xmlns:a16="http://schemas.microsoft.com/office/drawing/2014/main" id="{B4060F52-2B9D-419E-A67E-29A5E2BF9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TRACK 1 · DAY 20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98979759-404B-4D57-B4BA-4A200D426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A"/>
                </a:solidFill>
              </a:defRPr>
            </a:pPr>
            <a:r>
              <a:rPr sz="2625" b="1">
                <a:solidFill>
                  <a:srgbClr val="12304A"/>
                </a:solidFill>
              </a:rPr>
              <a:t>Tracking plan: 6 events đủ để tính toàn bộ hệ metric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50DD872E-9060-4E53-9C79-0BB66F71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26F3C31A-EC6A-4F74-83C2-D57A523F1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36D"/>
                </a:solidFill>
              </a:defRPr>
            </a:pPr>
            <a:r>
              <a:rPr sz="900" b="0">
                <a:solidFill>
                  <a:srgbClr val="54636D"/>
                </a:solidFill>
              </a:rPr>
              <a:t>FIXIT AGENT  ·  PHẠM HƯƠNG GIANG  ·  2A202602359</a:t>
            </a:r>
          </a:p>
        </p:txBody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0B6415FA-FEF2-41B6-AADF-50DD2A2C5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36D"/>
                </a:solidFill>
              </a:defRPr>
            </a:pPr>
            <a:r>
              <a:rPr sz="900" b="1">
                <a:solidFill>
                  <a:srgbClr val="54636D"/>
                </a:solidFill>
              </a:rPr>
              <a:t>07</a:t>
            </a:r>
          </a:p>
        </p:txBody>
      </p:sp>
      <p:sp>
        <p:nvSpPr>
          <p:cNvPr id="6" name="en0">
            <a:extLst xmlns:a="http://schemas.openxmlformats.org/drawingml/2006/main">
              <a:ext uri="{FF2B5EF4-FFF2-40B4-BE49-F238E27FC236}">
                <a16:creationId xmlns:a16="http://schemas.microsoft.com/office/drawing/2014/main" id="{BDB4C41E-E02A-4214-95A2-3DCEFDB5D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705B"/>
                </a:solidFill>
              </a:defRPr>
            </a:pPr>
            <a:r>
              <a:rPr sz="1350" b="1">
                <a:solidFill>
                  <a:srgbClr val="E9705B"/>
                </a:solidFill>
              </a:rPr>
              <a:t>01</a:t>
            </a:r>
          </a:p>
        </p:txBody>
      </p:sp>
      <p:sp>
        <p:nvSpPr>
          <p:cNvPr id="7" name="eh0">
            <a:extLst xmlns:a="http://schemas.openxmlformats.org/drawingml/2006/main">
              <a:ext uri="{FF2B5EF4-FFF2-40B4-BE49-F238E27FC236}">
                <a16:creationId xmlns:a16="http://schemas.microsoft.com/office/drawing/2014/main" id="{C67B33ED-9524-412A-9B2F-9F49D23FD0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1733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work_completed</a:t>
            </a:r>
          </a:p>
        </p:txBody>
      </p:sp>
      <p:sp>
        <p:nvSpPr>
          <p:cNvPr id="8" name="ep0">
            <a:extLst xmlns:a="http://schemas.openxmlformats.org/drawingml/2006/main">
              <a:ext uri="{FF2B5EF4-FFF2-40B4-BE49-F238E27FC236}">
                <a16:creationId xmlns:a16="http://schemas.microsoft.com/office/drawing/2014/main" id="{0EE30177-DBA7-488B-9DFB-745E357B3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20955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36D"/>
                </a:solidFill>
              </a:defRPr>
            </a:pPr>
            <a:r>
              <a:rPr sz="1275" b="0">
                <a:solidFill>
                  <a:srgbClr val="54636D"/>
                </a:solidFill>
              </a:rPr>
              <a:t>Nguồn ca hoàn tất</a:t>
            </a:r>
          </a:p>
        </p:txBody>
      </p:sp>
      <p:sp>
        <p:nvSpPr>
          <p:cNvPr id="9" name="en1">
            <a:extLst xmlns:a="http://schemas.openxmlformats.org/drawingml/2006/main">
              <a:ext uri="{FF2B5EF4-FFF2-40B4-BE49-F238E27FC236}">
                <a16:creationId xmlns:a16="http://schemas.microsoft.com/office/drawing/2014/main" id="{6D779FFE-D49F-46BD-93FE-B0FC3E85F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335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705B"/>
                </a:solidFill>
              </a:defRPr>
            </a:pPr>
            <a:r>
              <a:rPr sz="1350" b="1">
                <a:solidFill>
                  <a:srgbClr val="E9705B"/>
                </a:solidFill>
              </a:rPr>
              <a:t>02</a:t>
            </a:r>
          </a:p>
        </p:txBody>
      </p:sp>
      <p:sp>
        <p:nvSpPr>
          <p:cNvPr id="10" name="eh1">
            <a:extLst xmlns:a="http://schemas.openxmlformats.org/drawingml/2006/main">
              <a:ext uri="{FF2B5EF4-FFF2-40B4-BE49-F238E27FC236}">
                <a16:creationId xmlns:a16="http://schemas.microsoft.com/office/drawing/2014/main" id="{2F3CC356-4BB7-4BAB-979F-412720C4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7335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ready_for_bql_review</a:t>
            </a:r>
          </a:p>
        </p:txBody>
      </p:sp>
      <p:sp>
        <p:nvSpPr>
          <p:cNvPr id="11" name="ep1">
            <a:extLst xmlns:a="http://schemas.openxmlformats.org/drawingml/2006/main">
              <a:ext uri="{FF2B5EF4-FFF2-40B4-BE49-F238E27FC236}">
                <a16:creationId xmlns:a16="http://schemas.microsoft.com/office/drawing/2014/main" id="{F518698A-3CEE-481D-938E-2A21F2644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0955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36D"/>
                </a:solidFill>
              </a:defRPr>
            </a:pPr>
            <a:r>
              <a:rPr sz="1275" b="0">
                <a:solidFill>
                  <a:srgbClr val="54636D"/>
                </a:solidFill>
              </a:rPr>
              <a:t>Activation · coverage · pending age</a:t>
            </a:r>
          </a:p>
        </p:txBody>
      </p:sp>
      <p:sp>
        <p:nvSpPr>
          <p:cNvPr id="12" name="en2">
            <a:extLst xmlns:a="http://schemas.openxmlformats.org/drawingml/2006/main">
              <a:ext uri="{FF2B5EF4-FFF2-40B4-BE49-F238E27FC236}">
                <a16:creationId xmlns:a16="http://schemas.microsoft.com/office/drawing/2014/main" id="{34341E40-4BBD-4B3B-9942-1E9664A6A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48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705B"/>
                </a:solidFill>
              </a:defRPr>
            </a:pPr>
            <a:r>
              <a:rPr sz="1350" b="1">
                <a:solidFill>
                  <a:srgbClr val="E9705B"/>
                </a:solidFill>
              </a:rPr>
              <a:t>03</a:t>
            </a:r>
          </a:p>
        </p:txBody>
      </p:sp>
      <p:sp>
        <p:nvSpPr>
          <p:cNvPr id="13" name="eh2">
            <a:extLst xmlns:a="http://schemas.openxmlformats.org/drawingml/2006/main">
              <a:ext uri="{FF2B5EF4-FFF2-40B4-BE49-F238E27FC236}">
                <a16:creationId xmlns:a16="http://schemas.microsoft.com/office/drawing/2014/main" id="{1306ACE2-4BB6-4499-8AE9-1BC36950B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048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anomaly_flagged</a:t>
            </a:r>
          </a:p>
        </p:txBody>
      </p:sp>
      <p:sp>
        <p:nvSpPr>
          <p:cNvPr id="14" name="ep2">
            <a:extLst xmlns:a="http://schemas.openxmlformats.org/drawingml/2006/main">
              <a:ext uri="{FF2B5EF4-FFF2-40B4-BE49-F238E27FC236}">
                <a16:creationId xmlns:a16="http://schemas.microsoft.com/office/drawing/2014/main" id="{CCBCD1BB-3382-4CE2-B6C0-22770294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34099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36D"/>
                </a:solidFill>
              </a:defRPr>
            </a:pPr>
            <a:r>
              <a:rPr sz="1275" b="0">
                <a:solidFill>
                  <a:srgbClr val="54636D"/>
                </a:solidFill>
              </a:rPr>
              <a:t>Anomaly completion</a:t>
            </a:r>
          </a:p>
        </p:txBody>
      </p:sp>
      <p:sp>
        <p:nvSpPr>
          <p:cNvPr id="15" name="en3">
            <a:extLst xmlns:a="http://schemas.openxmlformats.org/drawingml/2006/main">
              <a:ext uri="{FF2B5EF4-FFF2-40B4-BE49-F238E27FC236}">
                <a16:creationId xmlns:a16="http://schemas.microsoft.com/office/drawing/2014/main" id="{38709ACC-8BD1-400C-8D65-051945FA9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04800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705B"/>
                </a:solidFill>
              </a:defRPr>
            </a:pPr>
            <a:r>
              <a:rPr sz="1350" b="1">
                <a:solidFill>
                  <a:srgbClr val="E9705B"/>
                </a:solidFill>
              </a:rPr>
              <a:t>04</a:t>
            </a:r>
          </a:p>
        </p:txBody>
      </p:sp>
      <p:sp>
        <p:nvSpPr>
          <p:cNvPr id="16" name="eh3">
            <a:extLst xmlns:a="http://schemas.openxmlformats.org/drawingml/2006/main">
              <a:ext uri="{FF2B5EF4-FFF2-40B4-BE49-F238E27FC236}">
                <a16:creationId xmlns:a16="http://schemas.microsoft.com/office/drawing/2014/main" id="{C69ABE22-8156-4894-8286-7EE155C99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0480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evaluation_completed</a:t>
            </a:r>
          </a:p>
        </p:txBody>
      </p:sp>
      <p:sp>
        <p:nvSpPr>
          <p:cNvPr id="17" name="ep3">
            <a:extLst xmlns:a="http://schemas.openxmlformats.org/drawingml/2006/main">
              <a:ext uri="{FF2B5EF4-FFF2-40B4-BE49-F238E27FC236}">
                <a16:creationId xmlns:a16="http://schemas.microsoft.com/office/drawing/2014/main" id="{45DE80F4-7809-489A-BBC3-9B556ADD0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40995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36D"/>
                </a:solidFill>
              </a:defRPr>
            </a:pPr>
            <a:r>
              <a:rPr sz="1275" b="0">
                <a:solidFill>
                  <a:srgbClr val="54636D"/>
                </a:solidFill>
              </a:rPr>
              <a:t>NSM · retention · review time</a:t>
            </a:r>
          </a:p>
        </p:txBody>
      </p:sp>
      <p:sp>
        <p:nvSpPr>
          <p:cNvPr id="18" name="en4">
            <a:extLst xmlns:a="http://schemas.openxmlformats.org/drawingml/2006/main">
              <a:ext uri="{FF2B5EF4-FFF2-40B4-BE49-F238E27FC236}">
                <a16:creationId xmlns:a16="http://schemas.microsoft.com/office/drawing/2014/main" id="{694AD3A3-8E57-4ADB-A88E-BC88AF499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705B"/>
                </a:solidFill>
              </a:defRPr>
            </a:pPr>
            <a:r>
              <a:rPr sz="1350" b="1">
                <a:solidFill>
                  <a:srgbClr val="E9705B"/>
                </a:solidFill>
              </a:rPr>
              <a:t>05</a:t>
            </a:r>
          </a:p>
        </p:txBody>
      </p:sp>
      <p:sp>
        <p:nvSpPr>
          <p:cNvPr id="19" name="eh4">
            <a:extLst xmlns:a="http://schemas.openxmlformats.org/drawingml/2006/main">
              <a:ext uri="{FF2B5EF4-FFF2-40B4-BE49-F238E27FC236}">
                <a16:creationId xmlns:a16="http://schemas.microsoft.com/office/drawing/2014/main" id="{3C1EB1FB-CE1A-4C38-8705-B9AF8997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362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evaluation_reopened</a:t>
            </a:r>
          </a:p>
        </p:txBody>
      </p:sp>
      <p:sp>
        <p:nvSpPr>
          <p:cNvPr id="20" name="ep4">
            <a:extLst xmlns:a="http://schemas.openxmlformats.org/drawingml/2006/main">
              <a:ext uri="{FF2B5EF4-FFF2-40B4-BE49-F238E27FC236}">
                <a16:creationId xmlns:a16="http://schemas.microsoft.com/office/drawing/2014/main" id="{DF2CBEC7-133E-4C27-BE37-97E4A700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50" y="47244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36D"/>
                </a:solidFill>
              </a:defRPr>
            </a:pPr>
            <a:r>
              <a:rPr sz="1275" b="0">
                <a:solidFill>
                  <a:srgbClr val="54636D"/>
                </a:solidFill>
              </a:rPr>
              <a:t>Correction rate</a:t>
            </a:r>
          </a:p>
        </p:txBody>
      </p:sp>
      <p:sp>
        <p:nvSpPr>
          <p:cNvPr id="21" name="en5">
            <a:extLst xmlns:a="http://schemas.openxmlformats.org/drawingml/2006/main">
              <a:ext uri="{FF2B5EF4-FFF2-40B4-BE49-F238E27FC236}">
                <a16:creationId xmlns:a16="http://schemas.microsoft.com/office/drawing/2014/main" id="{0D2CDBA2-EF1B-4A6B-A64A-93F7A8009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43624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E9705B"/>
                </a:solidFill>
              </a:defRPr>
            </a:pPr>
            <a:r>
              <a:rPr sz="1350" b="1">
                <a:solidFill>
                  <a:srgbClr val="E9705B"/>
                </a:solidFill>
              </a:rPr>
              <a:t>06</a:t>
            </a:r>
          </a:p>
        </p:txBody>
      </p:sp>
      <p:sp>
        <p:nvSpPr>
          <p:cNvPr id="22" name="eh5">
            <a:extLst xmlns:a="http://schemas.openxmlformats.org/drawingml/2006/main">
              <a:ext uri="{FF2B5EF4-FFF2-40B4-BE49-F238E27FC236}">
                <a16:creationId xmlns:a16="http://schemas.microsoft.com/office/drawing/2014/main" id="{4CF9227C-95EC-43CE-AC17-7184AB293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62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12304A"/>
                </a:solidFill>
              </a:defRPr>
            </a:pPr>
            <a:r>
              <a:rPr sz="1425" b="1">
                <a:solidFill>
                  <a:srgbClr val="12304A"/>
                </a:solidFill>
              </a:rPr>
              <a:t>evaluation_audit_completed</a:t>
            </a:r>
          </a:p>
        </p:txBody>
      </p:sp>
      <p:sp>
        <p:nvSpPr>
          <p:cNvPr id="23" name="ep5">
            <a:extLst xmlns:a="http://schemas.openxmlformats.org/drawingml/2006/main">
              <a:ext uri="{FF2B5EF4-FFF2-40B4-BE49-F238E27FC236}">
                <a16:creationId xmlns:a16="http://schemas.microsoft.com/office/drawing/2014/main" id="{FD4C2BAC-BDDB-43A9-897E-B314D4A2C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724400"/>
            <a:ext cx="447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4636D"/>
                </a:solidFill>
              </a:defRPr>
            </a:pPr>
            <a:r>
              <a:rPr sz="1275" b="0">
                <a:solidFill>
                  <a:srgbClr val="54636D"/>
                </a:solidFill>
              </a:rPr>
              <a:t>Unsupported rate</a:t>
            </a:r>
          </a:p>
        </p:txBody>
      </p:sp>
      <p:sp>
        <p:nvSpPr>
          <p:cNvPr id="24" name="criteria">
            <a:extLst xmlns:a="http://schemas.openxmlformats.org/drawingml/2006/main">
              <a:ext uri="{FF2B5EF4-FFF2-40B4-BE49-F238E27FC236}">
                <a16:creationId xmlns:a16="http://schemas.microsoft.com/office/drawing/2014/main" id="{3EE710B2-8C64-458E-9997-227274288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578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8DB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25" name="criteria-copy">
            <a:extLst xmlns:a="http://schemas.openxmlformats.org/drawingml/2006/main">
              <a:ext uri="{FF2B5EF4-FFF2-40B4-BE49-F238E27FC236}">
                <a16:creationId xmlns:a16="http://schemas.microsoft.com/office/drawing/2014/main" id="{95678612-2CEF-4D82-AB21-CDC2A4C62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10820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47D92"/>
                </a:solidFill>
              </a:defRPr>
            </a:pPr>
            <a:r>
              <a:rPr sz="1200" b="1">
                <a:solidFill>
                  <a:srgbClr val="147D92"/>
                </a:solidFill>
              </a:rPr>
              <a:t>Chỉ ghi sau transition thành công · chống trùng bằng event_name:object_id:state_version · timestamp UTC, gom ngày theo timezone tòa nhà</a:t>
            </a:r>
          </a:p>
        </p:txBody>
      </p:sp>
    </p:spTree>
    <p:extLst>
      <p:ext uri="{BB962C8B-B14F-4D97-AF65-F5344CB8AC3E}">
        <p14:creationId xmlns:p14="http://schemas.microsoft.com/office/powerpoint/2010/main" val="124422712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kicker-8">
            <a:extLst xmlns:a="http://schemas.openxmlformats.org/drawingml/2006/main">
              <a:ext uri="{FF2B5EF4-FFF2-40B4-BE49-F238E27FC236}">
                <a16:creationId xmlns:a16="http://schemas.microsoft.com/office/drawing/2014/main" id="{143B14D8-AC6B-4A77-8629-53B50E1315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47D92"/>
                </a:solidFill>
              </a:defRPr>
            </a:pPr>
            <a:r>
              <a:rPr sz="1125" b="1">
                <a:solidFill>
                  <a:srgbClr val="147D92"/>
                </a:solidFill>
              </a:rPr>
              <a:t>TRACK 1 · DAY 20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0F592B14-0710-45DF-ADE6-D131ACF5F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42950"/>
            <a:ext cx="108204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2304A"/>
                </a:solidFill>
              </a:defRPr>
            </a:pPr>
            <a:r>
              <a:rPr sz="2625" b="1">
                <a:solidFill>
                  <a:srgbClr val="12304A"/>
                </a:solidFill>
              </a:rPr>
              <a:t>Kết luận: đo value thật, không tối ưu activity giả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4CA952E1-48FB-4C7C-AADA-53138D2C5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7D92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CB044CDE-5C90-4F42-87B9-C5BFA777B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29375"/>
            <a:ext cx="8572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4636D"/>
                </a:solidFill>
              </a:defRPr>
            </a:pPr>
            <a:r>
              <a:rPr sz="900" b="0">
                <a:solidFill>
                  <a:srgbClr val="54636D"/>
                </a:solidFill>
              </a:rPr>
              <a:t>FIXIT AGENT  ·  PHẠM HƯƠNG GIANG  ·  2A202602359</a:t>
            </a:r>
          </a:p>
        </p:txBody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B55556A9-BDD2-48A9-8FC9-9597E85A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00800"/>
            <a:ext cx="7429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54636D"/>
                </a:solidFill>
              </a:defRPr>
            </a:pPr>
            <a:r>
              <a:rPr sz="900" b="1">
                <a:solidFill>
                  <a:srgbClr val="54636D"/>
                </a:solidFill>
              </a:rPr>
              <a:t>08</a:t>
            </a:r>
          </a:p>
        </p:txBody>
      </p:sp>
      <p:sp>
        <p:nvSpPr>
          <p:cNvPr id="6" name="takeaway">
            <a:extLst xmlns:a="http://schemas.openxmlformats.org/drawingml/2006/main">
              <a:ext uri="{FF2B5EF4-FFF2-40B4-BE49-F238E27FC236}">
                <a16:creationId xmlns:a16="http://schemas.microsoft.com/office/drawing/2014/main" id="{C16B14ED-4CC3-4FF3-B668-8328777D7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4762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2304A"/>
                </a:solidFill>
              </a:defRPr>
            </a:pPr>
            <a:r>
              <a:rPr sz="2100" b="1">
                <a:solidFill>
                  <a:srgbClr val="12304A"/>
                </a:solidFill>
              </a:rPr>
              <a:t>Ba quyết định mang về</a:t>
            </a:r>
          </a:p>
        </p:txBody>
      </p:sp>
      <p:sp>
        <p:nvSpPr>
          <p:cNvPr id="7" name="t1-dot">
            <a:extLst xmlns:a="http://schemas.openxmlformats.org/drawingml/2006/main">
              <a:ext uri="{FF2B5EF4-FFF2-40B4-BE49-F238E27FC236}">
                <a16:creationId xmlns:a16="http://schemas.microsoft.com/office/drawing/2014/main" id="{112F551B-8E66-4A2A-89BA-D7123BA95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8" name="t1">
            <a:extLst xmlns:a="http://schemas.openxmlformats.org/drawingml/2006/main">
              <a:ext uri="{FF2B5EF4-FFF2-40B4-BE49-F238E27FC236}">
                <a16:creationId xmlns:a16="http://schemas.microsoft.com/office/drawing/2014/main" id="{C5C461FD-B7E8-46ED-ABE2-A478100C2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57450"/>
            <a:ext cx="7353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Core action phải có completion rule và bằng chứng kiểm chứng được.</a:t>
            </a:r>
          </a:p>
        </p:txBody>
      </p:sp>
      <p:sp>
        <p:nvSpPr>
          <p:cNvPr id="9" name="t2-dot">
            <a:extLst xmlns:a="http://schemas.openxmlformats.org/drawingml/2006/main">
              <a:ext uri="{FF2B5EF4-FFF2-40B4-BE49-F238E27FC236}">
                <a16:creationId xmlns:a16="http://schemas.microsoft.com/office/drawing/2014/main" id="{8E741CC3-B4D5-423F-98CA-BF03F38F9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19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10" name="t2">
            <a:extLst xmlns:a="http://schemas.openxmlformats.org/drawingml/2006/main">
              <a:ext uri="{FF2B5EF4-FFF2-40B4-BE49-F238E27FC236}">
                <a16:creationId xmlns:a16="http://schemas.microsoft.com/office/drawing/2014/main" id="{C88519DE-9228-4AD4-BD49-464BA4035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219450"/>
            <a:ext cx="7353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Cadence, retention và loop phải theo nhu cầu vận hành tự nhiên.</a:t>
            </a:r>
          </a:p>
        </p:txBody>
      </p:sp>
      <p:sp>
        <p:nvSpPr>
          <p:cNvPr id="11" name="t3-dot">
            <a:extLst xmlns:a="http://schemas.openxmlformats.org/drawingml/2006/main">
              <a:ext uri="{FF2B5EF4-FFF2-40B4-BE49-F238E27FC236}">
                <a16:creationId xmlns:a16="http://schemas.microsoft.com/office/drawing/2014/main" id="{70B7171F-1444-4808-9A6A-831CD9A40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81450"/>
            <a:ext cx="19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47D92"/>
                </a:solidFill>
              </a:defRPr>
            </a:pPr>
            <a:r>
              <a:rPr sz="1725" b="1">
                <a:solidFill>
                  <a:srgbClr val="147D92"/>
                </a:solidFill>
              </a:rPr>
              <a:t>•</a:t>
            </a:r>
          </a:p>
        </p:txBody>
      </p:sp>
      <p:sp>
        <p:nvSpPr>
          <p:cNvPr id="12" name="t3">
            <a:extLst xmlns:a="http://schemas.openxmlformats.org/drawingml/2006/main">
              <a:ext uri="{FF2B5EF4-FFF2-40B4-BE49-F238E27FC236}">
                <a16:creationId xmlns:a16="http://schemas.microsoft.com/office/drawing/2014/main" id="{C920F0E3-406B-4B91-BE8D-43200E00E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81450"/>
            <a:ext cx="73533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42D"/>
                </a:solidFill>
              </a:defRPr>
            </a:pPr>
            <a:r>
              <a:rPr sz="1425" b="0">
                <a:solidFill>
                  <a:srgbClr val="17242D"/>
                </a:solidFill>
              </a:rPr>
              <a:t>Mỗi metric cần event để tính; mỗi event phải phục vụ một metric.</a:t>
            </a:r>
          </a:p>
        </p:txBody>
      </p:sp>
      <p:sp>
        <p:nvSpPr>
          <p:cNvPr id="13" name="final">
            <a:extLst xmlns:a="http://schemas.openxmlformats.org/drawingml/2006/main">
              <a:ext uri="{FF2B5EF4-FFF2-40B4-BE49-F238E27FC236}">
                <a16:creationId xmlns:a16="http://schemas.microsoft.com/office/drawing/2014/main" id="{BF0B8ACE-8996-4222-8B65-BDBDDAC15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19812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12304A"/>
          </a:solidFill>
          <a:ln xmlns:a="http://schemas.openxmlformats.org/drawingml/2006/main" w="9525">
            <a:solidFill>
              <a:srgbClr val="C9D8DB"/>
            </a:solidFill>
            <a:prstDash val="solid"/>
          </a:ln>
        </p:spPr>
      </p:sp>
      <p:sp>
        <p:nvSpPr>
          <p:cNvPr id="14" name="final-num">
            <a:extLst xmlns:a="http://schemas.openxmlformats.org/drawingml/2006/main">
              <a:ext uri="{FF2B5EF4-FFF2-40B4-BE49-F238E27FC236}">
                <a16:creationId xmlns:a16="http://schemas.microsoft.com/office/drawing/2014/main" id="{F31B0C35-0348-47A4-AFA9-96901292E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43840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3375" b="1">
                <a:solidFill>
                  <a:srgbClr val="FFFFFF"/>
                </a:solidFill>
              </a:defRPr>
            </a:pPr>
            <a:r>
              <a:rPr sz="3375" b="1">
                <a:solidFill>
                  <a:srgbClr val="FFFFFF"/>
                </a:solidFill>
              </a:rPr>
              <a:t>5/5</a:t>
            </a:r>
          </a:p>
        </p:txBody>
      </p:sp>
      <p:sp>
        <p:nvSpPr>
          <p:cNvPr id="15" name="final-label">
            <a:extLst xmlns:a="http://schemas.openxmlformats.org/drawingml/2006/main">
              <a:ext uri="{FF2B5EF4-FFF2-40B4-BE49-F238E27FC236}">
                <a16:creationId xmlns:a16="http://schemas.microsoft.com/office/drawing/2014/main" id="{D81DE230-3976-40A6-9F6A-03F98366F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238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DF3EF"/>
                </a:solidFill>
              </a:defRPr>
            </a:pPr>
            <a:r>
              <a:rPr sz="1350" b="1">
                <a:solidFill>
                  <a:srgbClr val="DDF3EF"/>
                </a:solidFill>
              </a:rPr>
              <a:t>GATES ĐẠT</a:t>
            </a:r>
          </a:p>
        </p:txBody>
      </p:sp>
      <p:sp>
        <p:nvSpPr>
          <p:cNvPr id="16" name="final-sub">
            <a:extLst xmlns:a="http://schemas.openxmlformats.org/drawingml/2006/main">
              <a:ext uri="{FF2B5EF4-FFF2-40B4-BE49-F238E27FC236}">
                <a16:creationId xmlns:a16="http://schemas.microsoft.com/office/drawing/2014/main" id="{6B9C603E-3FBB-4027-BD07-434500472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714750"/>
            <a:ext cx="1905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Core Action · Cadence</a:t>
            </a:r>
          </a:p>
          <a:p xmlns:a="http://schemas.openxmlformats.org/drawingml/2006/main">
            <a:pPr algn="ctr">
              <a:defRPr sz="1125" b="0">
                <a:solidFill>
                  <a:srgbClr val="FFFFFF"/>
                </a:solidFill>
              </a:defRPr>
            </a:pPr>
            <a:r>
              <a:rPr sz="1125" b="0">
                <a:solidFill>
                  <a:srgbClr val="FFFFFF"/>
                </a:solidFill>
              </a:rPr>
              <a:t>Metric · Loop · Tracking</a:t>
            </a:r>
          </a:p>
        </p:txBody>
      </p:sp>
      <p:sp>
        <p:nvSpPr>
          <p:cNvPr id="17" name="close">
            <a:extLst xmlns:a="http://schemas.openxmlformats.org/drawingml/2006/main">
              <a:ext uri="{FF2B5EF4-FFF2-40B4-BE49-F238E27FC236}">
                <a16:creationId xmlns:a16="http://schemas.microsoft.com/office/drawing/2014/main" id="{006C6E7F-0BB3-44EA-AD02-EBF8A3FE7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14950"/>
            <a:ext cx="762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47D92"/>
                </a:solidFill>
              </a:defRPr>
            </a:pPr>
            <a:r>
              <a:rPr sz="1650" b="1">
                <a:solidFill>
                  <a:srgbClr val="147D92"/>
                </a:solidFill>
              </a:rPr>
              <a:t>FixIt Agent · Metrics Pack hoàn chỉnh</a:t>
            </a:r>
          </a:p>
        </p:txBody>
      </p:sp>
    </p:spTree>
    <p:extLst>
      <p:ext uri="{BB962C8B-B14F-4D97-AF65-F5344CB8AC3E}">
        <p14:creationId xmlns:p14="http://schemas.microsoft.com/office/powerpoint/2010/main" val="11133513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2026-10-06T05:11:52.5180000Z</dcterms:created>
  <dcterms:modified xsi:type="dcterms:W3CDTF">2026-10-06T05:11:52.5180000Z</dcterms:modified>
</coreProperties>
</file>